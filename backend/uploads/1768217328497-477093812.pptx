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1.xml" ContentType="application/vnd.openxmlformats-officedocument.customXmlProperties+xml"/>
  <Override PartName="/customXml/item1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2.xml" ContentType="application/xml"/>
  <Override PartName="/customXml/itemProps3.xml" ContentType="application/vnd.openxmlformats-officedocument.customXml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theme/_rels/theme3.xml.rels" ContentType="application/vnd.openxmlformats-package.relationships+xml"/>
  <Override PartName="/ppt/theme/_rels/theme2.xml.rels" ContentType="application/vnd.openxmlformats-package.relationships+xml"/>
  <Override PartName="/ppt/theme/_rels/theme1.xml.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27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5.xml.rels" ContentType="application/vnd.openxmlformats-package.relationshi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868036-3C17-4933-93FC-99B8ADBCD6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8DAF2D-D326-4C78-95D2-9E58F356D5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37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7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8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9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55E8E6-3729-43A6-98D0-06680850FAC1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1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37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0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1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2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5C0F42-F97A-44A6-9E3F-53BDCEE2B660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1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37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13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14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15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D3C734-8545-4961-AF57-0E5098C2F4CC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1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55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4662720" cy="37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461640" y="2103120"/>
            <a:ext cx="4662720" cy="37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16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17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8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B29C32-B0C7-4DCE-BECA-5B521BD37CEF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1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069920" y="2074320"/>
            <a:ext cx="46627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9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069920" y="2792520"/>
            <a:ext cx="4662720" cy="316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458760" y="2074320"/>
            <a:ext cx="46627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9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458760" y="2792520"/>
            <a:ext cx="4662720" cy="316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dt" idx="19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&lt;date/time&gt;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 type="ftr" idx="20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8"/>
          <p:cNvSpPr>
            <a:spLocks noGrp="1"/>
          </p:cNvSpPr>
          <p:nvPr>
            <p:ph type="sldNum" idx="21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BC4FCA-3C8D-4CC3-A50E-9994BFBC8A8F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dt" idx="22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&lt;date/time&gt;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23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24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8157F0-4013-4116-BCD0-C0E98BB83CEC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82" name="Rectangle 6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7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5"/>
          </p:nvPr>
        </p:nvSpPr>
        <p:spPr>
          <a:xfrm>
            <a:off x="7256880" y="6035040"/>
            <a:ext cx="289224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&lt;date/time&gt;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26"/>
          </p:nvPr>
        </p:nvSpPr>
        <p:spPr>
          <a:xfrm>
            <a:off x="1066680" y="6035040"/>
            <a:ext cx="581580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27"/>
          </p:nvPr>
        </p:nvSpPr>
        <p:spPr>
          <a:xfrm>
            <a:off x="10287000" y="6035040"/>
            <a:ext cx="8373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5EA688-9572-44DB-A586-BB86399FB082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" hidden="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88" name="Rectangle 6" hidden="1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7" hidden="1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8119800" y="237600"/>
            <a:ext cx="3825720" cy="6381720"/>
          </a:xfrm>
          <a:prstGeom prst="rect">
            <a:avLst/>
          </a:prstGeom>
          <a:solidFill>
            <a:schemeClr val="lt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2"/>
          <p:cNvSpPr/>
          <p:nvPr/>
        </p:nvSpPr>
        <p:spPr>
          <a:xfrm>
            <a:off x="8254800" y="374760"/>
            <a:ext cx="3556440" cy="6107400"/>
          </a:xfrm>
          <a:prstGeom prst="rect">
            <a:avLst/>
          </a:prstGeom>
          <a:noFill/>
          <a:ln cap="sq" w="6350">
            <a:solidFill>
              <a:srgbClr val="404040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458200" y="607320"/>
            <a:ext cx="3161160" cy="164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609480"/>
            <a:ext cx="6857280" cy="53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262626"/>
              </a:buClr>
              <a:buFont typeface="Garamond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8458200" y="2336760"/>
            <a:ext cx="3161160" cy="360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28"/>
          </p:nvPr>
        </p:nvSpPr>
        <p:spPr>
          <a:xfrm>
            <a:off x="5587920" y="6035040"/>
            <a:ext cx="19551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&lt;date/time&gt;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29"/>
          </p:nvPr>
        </p:nvSpPr>
        <p:spPr>
          <a:xfrm>
            <a:off x="685800" y="6035040"/>
            <a:ext cx="458388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30"/>
          </p:nvPr>
        </p:nvSpPr>
        <p:spPr>
          <a:xfrm>
            <a:off x="10396800" y="6035040"/>
            <a:ext cx="122256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1399B9-88AD-4D98-9233-E110595F9575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8" hidden="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99" name="Rectangle 6" hidden="1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7" hidden="1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0"/>
          <p:cNvSpPr/>
          <p:nvPr/>
        </p:nvSpPr>
        <p:spPr>
          <a:xfrm>
            <a:off x="8119800" y="237600"/>
            <a:ext cx="3825720" cy="6381720"/>
          </a:xfrm>
          <a:prstGeom prst="rect">
            <a:avLst/>
          </a:prstGeom>
          <a:solidFill>
            <a:schemeClr val="lt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body"/>
          </p:nvPr>
        </p:nvSpPr>
        <p:spPr>
          <a:xfrm>
            <a:off x="228600" y="237600"/>
            <a:ext cx="7695360" cy="6381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icon to add picture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dt" idx="31"/>
          </p:nvPr>
        </p:nvSpPr>
        <p:spPr>
          <a:xfrm>
            <a:off x="5662440" y="6035040"/>
            <a:ext cx="207108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US" sz="800" strike="noStrike" u="none">
                <a:solidFill>
                  <a:schemeClr val="dk1"/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&lt;date/time&gt;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ftr" idx="32"/>
          </p:nvPr>
        </p:nvSpPr>
        <p:spPr>
          <a:xfrm>
            <a:off x="612720" y="6035040"/>
            <a:ext cx="458712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33"/>
          </p:nvPr>
        </p:nvSpPr>
        <p:spPr>
          <a:xfrm>
            <a:off x="10396800" y="6035040"/>
            <a:ext cx="1224720" cy="36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CF8C10-E844-4538-8D20-5D331A1D3AC5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Rectangle 11"/>
          <p:cNvSpPr/>
          <p:nvPr/>
        </p:nvSpPr>
        <p:spPr>
          <a:xfrm>
            <a:off x="8254800" y="374760"/>
            <a:ext cx="3556440" cy="6107400"/>
          </a:xfrm>
          <a:prstGeom prst="rect">
            <a:avLst/>
          </a:prstGeom>
          <a:noFill/>
          <a:ln cap="sq" w="6350">
            <a:solidFill>
              <a:srgbClr val="404040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title"/>
          </p:nvPr>
        </p:nvSpPr>
        <p:spPr>
          <a:xfrm>
            <a:off x="8477280" y="603360"/>
            <a:ext cx="3143880" cy="164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body"/>
          </p:nvPr>
        </p:nvSpPr>
        <p:spPr>
          <a:xfrm>
            <a:off x="8477280" y="2386440"/>
            <a:ext cx="3143880" cy="351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8" hidden="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3" name="Rectangle 6" hidden="1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7" hidden="1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 useBgFill="1">
        <p:nvSpPr>
          <p:cNvPr id="6" name="Rectangle 9"/>
          <p:cNvSpPr/>
          <p:nvPr/>
        </p:nvSpPr>
        <p:spPr>
          <a:xfrm>
            <a:off x="1307880" y="1267560"/>
            <a:ext cx="9575640" cy="4307400"/>
          </a:xfrm>
          <a:prstGeom prst="rect">
            <a:avLst/>
          </a:prstGeom>
          <a:ln w="6350">
            <a:noFill/>
          </a:ln>
          <a:effectLst>
            <a:outerShdw algn="ctr" blurRad="50760" rotWithShape="0">
              <a:srgbClr val="000000">
                <a:alpha val="6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1447920" y="1411560"/>
            <a:ext cx="9295560" cy="4034160"/>
          </a:xfrm>
          <a:prstGeom prst="rect">
            <a:avLst/>
          </a:prstGeom>
          <a:noFill/>
          <a:ln cap="sq" w="635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14"/>
          <p:cNvSpPr/>
          <p:nvPr/>
        </p:nvSpPr>
        <p:spPr>
          <a:xfrm>
            <a:off x="5135760" y="1267560"/>
            <a:ext cx="1919520" cy="7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Group 6"/>
          <p:cNvGrpSpPr/>
          <p:nvPr/>
        </p:nvGrpSpPr>
        <p:grpSpPr>
          <a:xfrm>
            <a:off x="5249880" y="1267560"/>
            <a:ext cx="1692000" cy="616320"/>
            <a:chOff x="5249880" y="1267560"/>
            <a:chExt cx="1692000" cy="616320"/>
          </a:xfrm>
        </p:grpSpPr>
        <p:cxnSp>
          <p:nvCxnSpPr>
            <p:cNvPr id="10" name="Straight Connector 16"/>
            <p:cNvCxnSpPr/>
            <p:nvPr/>
          </p:nvCxnSpPr>
          <p:spPr>
            <a:xfrm>
              <a:off x="5249880" y="1267560"/>
              <a:ext cx="720" cy="613440"/>
            </a:xfrm>
            <a:prstGeom prst="straightConnector1">
              <a:avLst/>
            </a:prstGeom>
            <a:ln w="0">
              <a:solidFill>
                <a:srgbClr val="ffffff"/>
              </a:solidFill>
            </a:ln>
          </p:spPr>
        </p:cxnSp>
        <p:cxnSp>
          <p:nvCxnSpPr>
            <p:cNvPr id="11" name="Straight Connector 17"/>
            <p:cNvCxnSpPr/>
            <p:nvPr/>
          </p:nvCxnSpPr>
          <p:spPr>
            <a:xfrm>
              <a:off x="6941520" y="1267560"/>
              <a:ext cx="720" cy="613440"/>
            </a:xfrm>
            <a:prstGeom prst="straightConnector1">
              <a:avLst/>
            </a:prstGeom>
            <a:ln w="0">
              <a:solidFill>
                <a:srgbClr val="ffffff"/>
              </a:solidFill>
            </a:ln>
          </p:spPr>
        </p:cxnSp>
        <p:cxnSp>
          <p:nvCxnSpPr>
            <p:cNvPr id="12" name="Straight Connector 18"/>
            <p:cNvCxnSpPr/>
            <p:nvPr/>
          </p:nvCxnSpPr>
          <p:spPr>
            <a:xfrm>
              <a:off x="5249880" y="1883520"/>
              <a:ext cx="1692360" cy="720"/>
            </a:xfrm>
            <a:prstGeom prst="straightConnector1">
              <a:avLst/>
            </a:prstGeom>
            <a:ln w="0">
              <a:solidFill>
                <a:srgbClr val="ffffff"/>
              </a:solidFill>
            </a:ln>
          </p:spPr>
        </p:cxn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629000" y="2244960"/>
            <a:ext cx="8933040" cy="243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6800" spc="-99" strike="noStrike" u="non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6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1"/>
          </p:nvPr>
        </p:nvSpPr>
        <p:spPr>
          <a:xfrm>
            <a:off x="5318640" y="1341360"/>
            <a:ext cx="1553760" cy="48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Sagona 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&lt;date/time&gt;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2"/>
          </p:nvPr>
        </p:nvSpPr>
        <p:spPr>
          <a:xfrm>
            <a:off x="1629000" y="5177520"/>
            <a:ext cx="5729400" cy="2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3"/>
          </p:nvPr>
        </p:nvSpPr>
        <p:spPr>
          <a:xfrm>
            <a:off x="8606880" y="5177520"/>
            <a:ext cx="1955160" cy="2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38579E-C386-465E-AFDE-7193EF0B0605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Second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Third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Fourth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 hidden="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>
        <p:nvSpPr>
          <p:cNvPr id="21" name="Rectangle 6" hidden="1"/>
          <p:cNvSpPr/>
          <p:nvPr/>
        </p:nvSpPr>
        <p:spPr>
          <a:xfrm>
            <a:off x="234720" y="237600"/>
            <a:ext cx="11721960" cy="6381720"/>
          </a:xfrm>
          <a:prstGeom prst="rect">
            <a:avLst/>
          </a:prstGeom>
          <a:solidFill>
            <a:schemeClr val="lt1">
              <a:lumMod val="75000"/>
              <a:alpha val="6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 hidden="1"/>
          <p:cNvSpPr/>
          <p:nvPr/>
        </p:nvSpPr>
        <p:spPr>
          <a:xfrm>
            <a:off x="371880" y="374760"/>
            <a:ext cx="11447640" cy="6107400"/>
          </a:xfrm>
          <a:prstGeom prst="rect">
            <a:avLst/>
          </a:prstGeom>
          <a:noFill/>
          <a:ln cap="sq" w="6350">
            <a:solidFill>
              <a:srgbClr val="26262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14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Sagona Book"/>
            </a:endParaRPr>
          </a:p>
        </p:txBody>
      </p:sp>
      <p:sp useBgFill="1">
        <p:nvSpPr>
          <p:cNvPr id="24" name="Rectangle 22"/>
          <p:cNvSpPr/>
          <p:nvPr/>
        </p:nvSpPr>
        <p:spPr>
          <a:xfrm>
            <a:off x="1307880" y="1267560"/>
            <a:ext cx="9575640" cy="4307400"/>
          </a:xfrm>
          <a:prstGeom prst="rect">
            <a:avLst/>
          </a:prstGeom>
          <a:ln w="6350">
            <a:noFill/>
          </a:ln>
          <a:effectLst>
            <a:outerShdw algn="ctr" blurRad="50760" rotWithShape="0">
              <a:srgbClr val="000000">
                <a:alpha val="6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23"/>
          <p:cNvSpPr/>
          <p:nvPr/>
        </p:nvSpPr>
        <p:spPr>
          <a:xfrm>
            <a:off x="1447920" y="1411560"/>
            <a:ext cx="9295560" cy="4034160"/>
          </a:xfrm>
          <a:prstGeom prst="rect">
            <a:avLst/>
          </a:prstGeom>
          <a:noFill/>
          <a:ln cap="sq" w="635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29"/>
          <p:cNvSpPr/>
          <p:nvPr/>
        </p:nvSpPr>
        <p:spPr>
          <a:xfrm>
            <a:off x="5135760" y="1267560"/>
            <a:ext cx="1919520" cy="73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629000" y="2275200"/>
            <a:ext cx="8933040" cy="24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6800" spc="-99" strike="noStrike" u="non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Click to edit Master title style</a:t>
            </a:r>
            <a:endParaRPr b="0" lang="en-IN" sz="6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" name="Group 15"/>
          <p:cNvGrpSpPr/>
          <p:nvPr/>
        </p:nvGrpSpPr>
        <p:grpSpPr>
          <a:xfrm>
            <a:off x="5249880" y="1267560"/>
            <a:ext cx="1692000" cy="616320"/>
            <a:chOff x="5249880" y="1267560"/>
            <a:chExt cx="1692000" cy="616320"/>
          </a:xfrm>
        </p:grpSpPr>
        <p:cxnSp>
          <p:nvCxnSpPr>
            <p:cNvPr id="29" name="Straight Connector 16"/>
            <p:cNvCxnSpPr/>
            <p:nvPr/>
          </p:nvCxnSpPr>
          <p:spPr>
            <a:xfrm>
              <a:off x="5249880" y="1267560"/>
              <a:ext cx="720" cy="613440"/>
            </a:xfrm>
            <a:prstGeom prst="straightConnector1">
              <a:avLst/>
            </a:prstGeom>
            <a:ln w="0">
              <a:solidFill>
                <a:srgbClr val="ffffff"/>
              </a:solidFill>
            </a:ln>
          </p:spPr>
        </p:cxnSp>
        <p:cxnSp>
          <p:nvCxnSpPr>
            <p:cNvPr id="30" name="Straight Connector 17"/>
            <p:cNvCxnSpPr/>
            <p:nvPr/>
          </p:nvCxnSpPr>
          <p:spPr>
            <a:xfrm>
              <a:off x="6941520" y="1267560"/>
              <a:ext cx="720" cy="613440"/>
            </a:xfrm>
            <a:prstGeom prst="straightConnector1">
              <a:avLst/>
            </a:prstGeom>
            <a:ln w="0">
              <a:solidFill>
                <a:srgbClr val="ffffff"/>
              </a:solidFill>
            </a:ln>
          </p:spPr>
        </p:cxnSp>
        <p:cxnSp>
          <p:nvCxnSpPr>
            <p:cNvPr id="31" name="Straight Connector 18"/>
            <p:cNvCxnSpPr/>
            <p:nvPr/>
          </p:nvCxnSpPr>
          <p:spPr>
            <a:xfrm>
              <a:off x="5249880" y="1883520"/>
              <a:ext cx="1692360" cy="720"/>
            </a:xfrm>
            <a:prstGeom prst="straightConnector1">
              <a:avLst/>
            </a:prstGeom>
            <a:ln w="0">
              <a:solidFill>
                <a:srgbClr val="ffffff"/>
              </a:solidFill>
            </a:ln>
          </p:spPr>
        </p:cxnSp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29000" y="4682160"/>
            <a:ext cx="89391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Sagona Book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4"/>
          </p:nvPr>
        </p:nvSpPr>
        <p:spPr>
          <a:xfrm>
            <a:off x="5318640" y="1344600"/>
            <a:ext cx="15537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Sagona 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&lt;date/time&gt;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5"/>
          </p:nvPr>
        </p:nvSpPr>
        <p:spPr>
          <a:xfrm>
            <a:off x="1629000" y="5177520"/>
            <a:ext cx="5659560" cy="2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6"/>
          </p:nvPr>
        </p:nvSpPr>
        <p:spPr>
          <a:xfrm>
            <a:off x="8604360" y="5177520"/>
            <a:ext cx="1957680" cy="2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45C3F9-9E0D-4649-9233-1AD1047E83F7}" type="slidenum">
              <a:rPr b="0" lang="en-US" sz="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agona Book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/>
          <a:srcRect l="0" t="3846" r="0" b="0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7440" y="1808640"/>
            <a:ext cx="5451840" cy="324036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3400" y="1974960"/>
            <a:ext cx="5119920" cy="2907000"/>
          </a:xfrm>
          <a:prstGeom prst="rect">
            <a:avLst/>
          </a:prstGeom>
          <a:noFill/>
          <a:ln cap="sq" w="635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9800" y="2359800"/>
            <a:ext cx="4947120" cy="16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4400" spc="-99" strike="noStrike" u="none" cap="all">
                <a:solidFill>
                  <a:schemeClr val="lt1"/>
                </a:solidFill>
                <a:effectLst/>
                <a:uFillTx/>
                <a:latin typeface="Sagona ExtraLight"/>
              </a:rPr>
              <a:t>Data frames &amp; visualizing data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276200" y="3990600"/>
            <a:ext cx="4774320" cy="55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800" spc="79" strike="noStrike" u="none">
                <a:solidFill>
                  <a:schemeClr val="lt1"/>
                </a:solidFill>
                <a:effectLst/>
                <a:uFillTx/>
                <a:latin typeface="Sagona Book"/>
              </a:rPr>
              <a:t>Unit 1_XELA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 DATA FRAMES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Data Frame is the most widely used and important data structure in the Pandas library. It represents a two-dimensional, size-mutable, and potentially heterogeneous tabular data structure. It can be thought of as a spreadsheet or SQL table, where data is organized into rows and columns, each column being a Pandas Series object.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66680" y="9054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1.1 Creating a Data Frame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There are several ways to create a Data Frame using the pandas.DataFrame() constructor, depending on the source data structure.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1.1.1 Creating a Data Frame from a Dict of Series or Dicts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Clr>
                <a:srgbClr val="262626"/>
              </a:buClr>
              <a:buFont typeface="Symbol" charset="2"/>
              <a:buChar char=""/>
              <a:tabLst>
                <a:tab algn="l" pos="57168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When creating a Data Frame from a dictionary: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 Keys of the dictionary become the column names.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 Values can be a collection of Pandas Series or other Python dictionaries.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 Pandas automatically aligns the data by the index of the Series/Dicts. Any missing value at an index will be filled with a Not a Number (NaN) value.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97160" y="247320"/>
            <a:ext cx="10057680" cy="88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Example: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0480" y="104148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From a Dict of Series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Python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import pandas as pd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'Test1' Series has indices 'Ahmed', 'Omar', 'Ali'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'Test2' Series has indices 'Ahmed', 'Omar', 'Ali', 'Salwa'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data = {'Test1' : pd.Series([70, 55, 89], index=['Ahmed', 'Omar', 'Ali']),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       'Test2' : pd.Series([56, 82, 77, 65], index=['Ahmed', 'Omar', 'Ali', 'Salwa'])}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df1 = pd.DataFrame(data)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print(df1)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2" name="Table 3"/>
          <p:cNvGraphicFramePr/>
          <p:nvPr/>
        </p:nvGraphicFramePr>
        <p:xfrm>
          <a:off x="3114000" y="3587040"/>
          <a:ext cx="8395560" cy="2804400"/>
        </p:xfrm>
        <a:graphic>
          <a:graphicData uri="http://schemas.openxmlformats.org/drawingml/2006/table">
            <a:tbl>
              <a:tblPr/>
              <a:tblGrid>
                <a:gridCol w="2798640"/>
                <a:gridCol w="2798640"/>
                <a:gridCol w="2798640"/>
              </a:tblGrid>
              <a:tr h="560880">
                <a:tc>
                  <a:txBody>
                    <a:bodyPr lIns="114120" rIns="114120" tIns="75960" bIns="75960" anchor="ctr">
                      <a:noAutofit/>
                    </a:bodyPr>
                    <a:p>
                      <a:endParaRPr b="1" lang="en-IN" sz="1600" strike="noStrike" u="none">
                        <a:solidFill>
                          <a:schemeClr val="lt1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Test1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Test2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56088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Ahmed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70.0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56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56088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Ali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89.0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77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6088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Omar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55.0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82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56088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Salwa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NaN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65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21280" y="417960"/>
            <a:ext cx="1102032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1.1.2 Creating Data Frames from a Dict of Ndarrays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49800" y="1670040"/>
            <a:ext cx="1089180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A dictionary whose values are NumPy Ndarrays (or Python lists) can be passed to the constructor.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All array-like structures must be of the same length.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By default, the index will be a sequential integer sequence (0, 1, 2, ...).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2880000" y="4156560"/>
            <a:ext cx="6095160" cy="21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Example: From a Dict of Ndarrays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Python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import pandas as pd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import numpy as np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data_ndarray = {'one': np.array([1, 2, 3, 4]), 'two': np.array([5, 6, 7, 8])}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df_ndarray = pd.DataFrame(data_ndarray)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601"/>
              </a:spcAft>
            </a:pP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print(df_ndarray)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21280" y="41796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1.1.3 Creating Data Frames from a Structured or Record Array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49800" y="2057400"/>
            <a:ext cx="1089180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A Structured Array from NumPy allows for pre-defining column labels and their respective data types.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2221920" y="3429000"/>
            <a:ext cx="820476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Example: From a Structured Array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import pandas as pd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import numpy as np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# Define data types: 'A' as int4, 'B' as float4, 'C' as string (max 10 chars)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data = np.zeros((2,), dtype=[('A', 'i4'), ('B', 'f4'), ('C', 'a10')])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data[:] = [(1, 2., 'Hello'), (2, 3., 'World')]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df_record = pd.DataFrame(data)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print(df_record)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21280" y="41796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1.1.4 Creating Data Frames from a List of Dicts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49800" y="1670040"/>
            <a:ext cx="10891800" cy="20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A Data Frame can be constructed from a list of Python dictionaries.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Each dictionary represents a row.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•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The keys of the dictionaries are used as column names.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2502720" y="3753720"/>
            <a:ext cx="747504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Example: From a List of Dicts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import pandas as pd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data = [{'a': 1, 'b': 2}, {'a': 5, 'b': 10, 'c': 20}]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df_list_dicts = pd.DataFrame(data)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print(df_list_dicts)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21280" y="417960"/>
            <a:ext cx="1089180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1.1.5 Creating Data Frames from a Dict of Tuples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49800" y="1670040"/>
            <a:ext cx="1089180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A dictionary where values are tuples can also be used to create a Data Frame.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2462400" y="2754720"/>
            <a:ext cx="676116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Example: From a Dict of Tuples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import pandas as pd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data = {'one': (1, 2), 'two': (3, 4)}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df_dict_tuples = pd.DataFrame(data)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print(df_dict_tuples)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21280" y="417960"/>
            <a:ext cx="1089180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1.2 Selecting, Adding, and Deleting Data Frame Columns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49800" y="1670040"/>
            <a:ext cx="1089180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IN" sz="2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1.2.1 Selecting, Adding, and Deleting Columns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Table 3"/>
          <p:cNvGraphicFramePr/>
          <p:nvPr/>
        </p:nvGraphicFramePr>
        <p:xfrm>
          <a:off x="753120" y="2402640"/>
          <a:ext cx="10788840" cy="3728520"/>
        </p:xfrm>
        <a:graphic>
          <a:graphicData uri="http://schemas.openxmlformats.org/drawingml/2006/table">
            <a:tbl>
              <a:tblPr/>
              <a:tblGrid>
                <a:gridCol w="3596400"/>
                <a:gridCol w="3596400"/>
                <a:gridCol w="3596400"/>
              </a:tblGrid>
              <a:tr h="6213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Operation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Method/Syntax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Description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320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Selecting Column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df['ColumnName'] or df.ColumnName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Returns a Series containing data for the specified column.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124308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Adding Column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df['NewColumn'] = value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Adds a new column. value can be a scalar, a NumPy array, or a Pandas Series (indices will be aligned).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9320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Deleting Column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del df['ColumnName'] or df.pop('ColumnName')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Permanently removes the column from the Data Frame.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066680" y="-14364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1.2.1 Selecting, Adding, and Deleting Columns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54280" y="1012320"/>
            <a:ext cx="10482840" cy="54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Example (Selection, Addition, Deletion):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Python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Assuming df1 from 1.1.1 is used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 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1. Selecting: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Displays the 'Test2' column as a Series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print(df1['Test2'])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 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2. Adding: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Add 'Project' column using a Series (index alignment will apply)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df1['Project'] = pd.Series([90, 83, 67, 87], index= ['Ali', 'Omar', 'Salwa', 'Ahmed'])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print("After adding 'Project':\n", df1)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 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3. Deleting: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Remove 'Project' column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del df1['Project']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print("After deleting 'Project':\n", df1)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61100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1.2.2 Assigning New Columns in Method Chains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066680" y="1601640"/>
            <a:ext cx="10057680" cy="182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The .assign() method allows for creating a new Data Frame with a new column while leaving the original Data Frame unchanged. This enables clean and reproducible workflows in a method chain.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3048120" y="3791880"/>
            <a:ext cx="6095160" cy="11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1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Example:</a:t>
            </a: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 Adding 'Total' in a Method Chain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# Create a new DataFrame df_with_total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df_with_total = df1.assign(Total = df1['Test1'] + df1['Test2'])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print(df_with_total)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21280" y="417960"/>
            <a:ext cx="1089180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1.3 Row Selection, Addition, and Deletion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49800" y="1333080"/>
            <a:ext cx="1089180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1.3.1 Row Selection (Indexing and Selecting Data Frames)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5" name="Table 4"/>
          <p:cNvGraphicFramePr/>
          <p:nvPr/>
        </p:nvGraphicFramePr>
        <p:xfrm>
          <a:off x="717120" y="2133000"/>
          <a:ext cx="10824480" cy="4080600"/>
        </p:xfrm>
        <a:graphic>
          <a:graphicData uri="http://schemas.openxmlformats.org/drawingml/2006/table">
            <a:tbl>
              <a:tblPr/>
              <a:tblGrid>
                <a:gridCol w="3608280"/>
                <a:gridCol w="3608280"/>
                <a:gridCol w="3608280"/>
              </a:tblGrid>
              <a:tr h="6800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Operation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Syntax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Description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0202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Select Row by Label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df.loc[label]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Selects a row (or rows) using its explicit index label(s).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10202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Select Row by Position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df.iloc[loc]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Selects a row (or rows) using its integer-based position (0-indexed).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6800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Slice Rows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df[start:stop]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Selects a range of rows by position.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68004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Select by Boolean Vector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df[df[col] &gt; value]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Selects rows where a condition is True.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41000" y="0"/>
            <a:ext cx="1130904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1.3.1 Row Selection (Indexing and Selecting Data Frames)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54280" y="1012320"/>
            <a:ext cx="10482840" cy="54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Example (Selection):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Python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1. Select by Label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print("Row 'Ali':\n", df1.loc['Ali'])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 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2. Select by Position</a:t>
            </a: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(index 0 to 1, exclusive of 2)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print("First two rows:\n", df1.iloc[0:2])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 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# 3. Select by Boolean</a:t>
            </a: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Condition (Test1 score &gt; 60)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print("Students with Test1 &gt; 60:\n", df1[df1['Test1'] &gt; 60])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41000" y="344880"/>
            <a:ext cx="1130904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1.3.2 Row Addition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54280" y="1716480"/>
            <a:ext cx="10482840" cy="107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Rows are typically added by creating a new Data Frame containing the new row(s) and then using the pd.concat() function to join them with the original Data Frame.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2342160" y="3031560"/>
            <a:ext cx="6095160" cy="13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Example (Adding a new row 'Ziad'):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new_row = pd.DataFrame({'Test1': [65], 'Test2': [72]}, index=['Ziad'])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df1 = pd.concat([df1, new_row])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print("After adding row 'Ziad':\n", df1)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41000" y="344880"/>
            <a:ext cx="1130904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1.3.3 Row Deletion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54280" y="1716480"/>
            <a:ext cx="10482840" cy="107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Rows are deleted using the .drop() method, specifying the row label(s) and confirming axis=0 (the default) for row deletion.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2342160" y="3031560"/>
            <a:ext cx="609516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Example (Deleting row 'Salwa'):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df_dropped = df1.drop('Salwa')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print("After deleting row 'Salwa':\n", df_dropped)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41000" y="344880"/>
            <a:ext cx="1130904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1.4 Exploring and Analysing a Data Frame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41000" y="1378440"/>
            <a:ext cx="10482840" cy="107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Exploration methods provide quick summaries of the Data Frame's content and statistical properties.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Table 3"/>
          <p:cNvGraphicFramePr/>
          <p:nvPr/>
        </p:nvGraphicFramePr>
        <p:xfrm>
          <a:off x="519840" y="2014200"/>
          <a:ext cx="11151720" cy="3125880"/>
        </p:xfrm>
        <a:graphic>
          <a:graphicData uri="http://schemas.openxmlformats.org/drawingml/2006/table">
            <a:tbl>
              <a:tblPr/>
              <a:tblGrid>
                <a:gridCol w="5576040"/>
                <a:gridCol w="5576040"/>
              </a:tblGrid>
              <a:tr h="52092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Method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Description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2092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df.head(n) / df.tail(n)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Displays the first / last n rows of the Data Frame.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52092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df.shape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Returns a tuple representing the dimensions (rows, columns).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781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df.info()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Prints a summary of the Data Frame, including data types and non-null values.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781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df.describe()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Generates descriptive statistics (count, mean, min, max, std, quartiles) for all numerical columns.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7" name="TextBox 6"/>
          <p:cNvSpPr/>
          <p:nvPr/>
        </p:nvSpPr>
        <p:spPr>
          <a:xfrm>
            <a:off x="2454480" y="5326200"/>
            <a:ext cx="6095160" cy="9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Example (Exploring):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print(df1.head(3)) # Show first 3 rows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99"/>
              </a:lnSpc>
              <a:spcAft>
                <a:spcPts val="601"/>
              </a:spcAft>
            </a:pP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Aptos"/>
                <a:ea typeface="inter"/>
              </a:rPr>
              <a:t>print(df1.describe()) # Show descriptive statistics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66680" y="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1.5 Indexing and Selecting DataFrames 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066680" y="1012320"/>
            <a:ext cx="10057680" cy="94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Indexing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means locating rows and columns in a DataFrame.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20000"/>
              </a:lnSpc>
              <a:spcBef>
                <a:spcPts val="901"/>
              </a:spcBef>
              <a:buClr>
                <a:srgbClr val="262626"/>
              </a:buClr>
              <a:buFont typeface="Garamond"/>
              <a:buChar char="◦"/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Selection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 means extracting specific data based on labels, positions, or conditions.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417240" y="1759680"/>
            <a:ext cx="6095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1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Main Methods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1" name="Table 5"/>
          <p:cNvGraphicFramePr/>
          <p:nvPr/>
        </p:nvGraphicFramePr>
        <p:xfrm>
          <a:off x="717120" y="2154600"/>
          <a:ext cx="10828440" cy="2371680"/>
        </p:xfrm>
        <a:graphic>
          <a:graphicData uri="http://schemas.openxmlformats.org/drawingml/2006/table">
            <a:tbl>
              <a:tblPr/>
              <a:tblGrid>
                <a:gridCol w="2707200"/>
                <a:gridCol w="2707200"/>
                <a:gridCol w="2707200"/>
                <a:gridCol w="2707200"/>
              </a:tblGrid>
              <a:tr h="395280"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Method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Type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Description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Example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df[col]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Column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Selects a column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df['A']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95280"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df.loc[label]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Label-based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 row/column by label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df.loc[2, 'A']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df.iloc[pos]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Position-based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 by integer index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df.iloc[1, 2]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95280"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df[start:end]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Slice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 range of rows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df[1:4]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df[condition]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Boolean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Select rows meeting condition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df[df['A'] &gt; 5]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2" name="TextBox 7"/>
          <p:cNvSpPr/>
          <p:nvPr/>
        </p:nvSpPr>
        <p:spPr>
          <a:xfrm>
            <a:off x="1909080" y="4482360"/>
            <a:ext cx="4603320" cy="20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1" lang="en-IN" sz="14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Aptos"/>
                <a:ea typeface="Aptos"/>
              </a:rPr>
              <a:t>Examples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0" lang="en-IN" sz="14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Aptos"/>
                <a:ea typeface="Aptos"/>
              </a:rPr>
              <a:t>df.loc[0]           # first row by label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0" lang="en-IN" sz="14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Aptos"/>
                <a:ea typeface="Aptos"/>
              </a:rPr>
              <a:t>df.iloc[1:3]        # rows 1 and 2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0" lang="en-IN" sz="14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Aptos"/>
                <a:ea typeface="Aptos"/>
              </a:rPr>
              <a:t>df['B']             # column B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0" lang="en-IN" sz="14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Aptos"/>
                <a:ea typeface="Aptos"/>
              </a:rPr>
              <a:t>df[df['C'] &gt; 10]    # filter where C &gt; 10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0" lang="en-IN" sz="14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Aptos"/>
                <a:ea typeface="Aptos"/>
              </a:rPr>
              <a:t>df.loc[0:2, ['A','C']]  # rows 0–2, columns A &amp; 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5981760" y="4480200"/>
            <a:ext cx="6095160" cy="20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b="1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Summary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.loc[] → Label-based selection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.iloc[] → Position-based selection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Slicing</a:t>
            </a: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→ Select row ranges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Boolean indexing</a:t>
            </a: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→ Conditional filtering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41000" y="344880"/>
            <a:ext cx="1130904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1.6 Transposing a Data Frame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54280" y="1716480"/>
            <a:ext cx="10482840" cy="107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Transposing a Data Frame involves switching its rows and columns. This is achieved using the .T attribute (or the transpose() method).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2342160" y="3031560"/>
            <a:ext cx="609516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Example: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df_transposed = df1.T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print(df_transposed)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# The old columns (Test1, Test2) become the new index, and old index becomes new columns.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41000" y="344880"/>
            <a:ext cx="1130904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1.7 Data Frame Interoperability with Numpy Functions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54280" y="1716480"/>
            <a:ext cx="10482840" cy="107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Sagona Book"/>
              </a:rPr>
              <a:t>Pandas Data Frames are designed for seamless integration with the NumPy library. NumPy universal functions (ufuncs) can be directly applied to a Data Frame, operating element-wise on the data.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2342160" y="3031560"/>
            <a:ext cx="609516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Example (Applying NumPy square root function):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Python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import numpy as np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# Applies square root to the data in Test1 and Test2 columns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df_sqroot = np.sqrt(df1[['Test1', 'Test2']])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Sagona Book"/>
              </a:rPr>
              <a:t>print(df_sqroot)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61100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ts val="1199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2. VISUALIZING DATA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Data visualization is the process of representing data in a pictorial or graphical format. It transforms complex data into easily understandable visual aids, which is critical for analysis and decision-making.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2.1 Data visualization in Business Intelligence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Data visualization plays an essential role in modern Business Intelligence (BI) by helping to interpret data and drive strategic decisions.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How Data Visualization Is Used for Business Decision-Making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1.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Faster Responses: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Visual interpretations quickly highlight issues, enabling managers and decision-makers to respond faster.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2.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Simplicity: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Visual techniques simplify complex datasets, giving a full picture while allowing users to focus on specific, relevant details.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2.1 Data visualization in Business Intelligence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3.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Easier Pattern Visualization: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It helps in identifying hidden trends and patterns within large datasets, enabling proactive decision-making and strategy preparation.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4.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Team Involvement: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It fosters better collaboration across departments by ensuring everyone is looking at the same information and remains aligned toward strategic goals.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5.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Unify Interpretation: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Charts and graphics provide a common, consistent understanding of the data, preventing different stakeholders from having misleading or conflicting interpretations.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066680" y="252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2.2 Data visualization techniques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066680" y="900000"/>
            <a:ext cx="100576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The technique chosen for visualization depends on the data type, the relationship between variables, and the goal of the analysis.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8" name="Table 3"/>
          <p:cNvGraphicFramePr/>
          <p:nvPr/>
        </p:nvGraphicFramePr>
        <p:xfrm>
          <a:off x="564840" y="2053080"/>
          <a:ext cx="11070720" cy="4336920"/>
        </p:xfrm>
        <a:graphic>
          <a:graphicData uri="http://schemas.openxmlformats.org/drawingml/2006/table">
            <a:tbl>
              <a:tblPr/>
              <a:tblGrid>
                <a:gridCol w="3690360"/>
                <a:gridCol w="3690360"/>
                <a:gridCol w="3690360"/>
              </a:tblGrid>
              <a:tr h="41292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Technique/Plot Type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Purpose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Example Use Case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19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Line Plot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Shows the trend of data over a continuous range, typically time.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Tracking revenue growth month-over-month.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619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Bar Plot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Compares discrete data categories or shows count/frequency.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Sales volume comparison across different product lines.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619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Pie Chart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Illustrates proportions of a whole (composition).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Distribution of market share among competitors.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619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Histogram Plot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Shows the distribution of a single numerical variable by binning data.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Analyzing the distribution of customer ages.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61956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Scatter Plot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Visualizes the relationship or correlation between two numerical variables.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Examining the link between advertising spend and sales.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826200"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1" lang="en-IN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agona Book"/>
                        </a:rPr>
                        <a:t>Box Plot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Displays the distribution of data based on a five-number summary (median, quartiles, min/max, outliers).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spcAft>
                          <a:spcPts val="601"/>
                        </a:spcAf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agona Book"/>
                        </a:rPr>
                        <a:t>Comparing the spread and central tendency of test scores between different classes.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2.3 Data visualization libraries in Python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Python's strength in data visualization comes from its rich collection of specialized libraries.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1.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Pandas Plotting: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DataFrames and Series objects in Pandas have built-in methods for plotting.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These are high-level wrappers around Matplotlib, allowing for quick visualization directly from the data structure with minimal code.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2.3 Data visualization libraries in Python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2.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Matplotlib: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The foundational and most extensive Python plotting library.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It offers a complete set of functions for generating static, animated, and interactive plots.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It is used to create basic plots like Line Plots, Bar Charts, Histograms, Scatter Plots, Stack Plots, and Pie Charts.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76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gona ExtraLight"/>
              </a:rPr>
              <a:t>2.3 Data visualization libraries in Python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1066680" y="2103120"/>
            <a:ext cx="100576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3.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Seaborn: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A library built on top of Matplotlib that provides a high-level interface for drawing attractive and informative statistical graphics.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It is particularly excellent for visualizing complex statistical relationships and data distributions.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50000"/>
              </a:lnSpc>
              <a:spcBef>
                <a:spcPts val="524"/>
              </a:spcBef>
              <a:spcAft>
                <a:spcPts val="524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	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ptos"/>
                <a:ea typeface="inter"/>
              </a:rPr>
              <a:t>It includes specialized plots like Strip Plots, Box Plots, Swarm Plots, and Joint Plots.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SavonVTI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 pitchFamily="0" charset="1"/>
        <a:ea typeface=""/>
        <a:cs typeface=""/>
      </a:majorFont>
      <a:minorFont>
        <a:latin typeface="Sagona Book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VTI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 pitchFamily="0" charset="1"/>
        <a:ea typeface=""/>
        <a:cs typeface=""/>
      </a:majorFont>
      <a:minorFont>
        <a:latin typeface="Sagona Book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avonVTI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 pitchFamily="0" charset="1"/>
        <a:ea typeface=""/>
        <a:cs typeface=""/>
      </a:majorFont>
      <a:minorFont>
        <a:latin typeface="Sagona Book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{21015042-55D7-488F-943C-C1610EA0423B}tf78829772_win32</Template>
  <TotalTime>146</TotalTime>
  <Application>LibreOffice/25.8.2.2$Linux_X86_64 LibreOffice_project/580$Build-2</Application>
  <AppVersion>15.0000</AppVersion>
  <Words>2483</Words>
  <Paragraphs>271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2025-10-27T04:35:53Z</dcterms:created>
  <dc:creator>Alex Suresh</dc:creator>
  <dc:description/>
  <dc:language>en-IN</dc:language>
  <cp:lastModifiedBy/>
  <dcterms:modified xsi:type="dcterms:W3CDTF">2025-11-19T08:53:34Z</dcterms:modified>
  <cp:revision>103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PresentationFormat">
    <vt:lpwstr>Widescreen</vt:lpwstr>
  </property>
  <property fmtid="{D5CDD505-2E9C-101B-9397-08002B2CF9AE}" pid="4" name="Slides">
    <vt:i4>27</vt:i4>
  </property>
</Properties>
</file>